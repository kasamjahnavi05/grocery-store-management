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1" r:id="rId28"/>
    <p:sldId id="282" r:id="rId29"/>
  </p:sldIdLst>
  <p:sldSz cx="12192000" cy="6858000"/>
  <p:notesSz cx="6858000" cy="9144000"/>
  <p:embeddedFontLst>
    <p:embeddedFont>
      <p:font typeface="Libre Baskerville" panose="02000000000000000000" pitchFamily="2" charset="0"/>
      <p:regular r:id="rId31"/>
      <p:bold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49141a2e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49141a2e4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949141a2e4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486ddeb1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486ddeb11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39486ddeb11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8" name="Google Shape;28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" y="0"/>
            <a:ext cx="12190800" cy="685610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2528725" y="3780675"/>
            <a:ext cx="774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IN" sz="4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Grocery Store Management</a:t>
            </a:r>
            <a:endParaRPr sz="4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8194425" y="4747850"/>
            <a:ext cx="3903900" cy="1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Jidnyasa Thakre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  K.Jahnavi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S.Shruthi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3308675" y="401075"/>
            <a:ext cx="5093400" cy="1584300"/>
          </a:xfrm>
          <a:prstGeom prst="rect">
            <a:avLst/>
          </a:prstGeom>
          <a:noFill/>
          <a:ln>
            <a:noFill/>
          </a:ln>
          <a:effectLst>
            <a:outerShdw dist="104775" algn="bl" rotWithShape="0">
              <a:srgbClr val="FFFFFF">
                <a:alpha val="54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lang="en-IN" sz="4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Grocery Store Management</a:t>
            </a:r>
            <a:endParaRPr sz="5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-1724525" y="1183100"/>
            <a:ext cx="11550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38197" y="886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 :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84875" y="1493126"/>
            <a:ext cx="10515600" cy="4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Objectives</a:t>
            </a:r>
            <a:endParaRPr sz="240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ER Diagram</a:t>
            </a:r>
            <a:endParaRPr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Tables </a:t>
            </a:r>
            <a:endParaRPr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Key analysis questions </a:t>
            </a:r>
            <a:endParaRPr sz="240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SQL query results </a:t>
            </a:r>
            <a:endParaRPr sz="240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Final business insights </a:t>
            </a:r>
            <a:endParaRPr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 Recommendations</a:t>
            </a:r>
            <a:endParaRPr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Conclusion</a:t>
            </a:r>
            <a:endParaRPr sz="24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518825" y="376700"/>
            <a:ext cx="11205600" cy="5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6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sz="26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design a </a:t>
            </a:r>
            <a:r>
              <a:rPr lang="en-IN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centralized SQL database</a:t>
            </a: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storing and managing all grocery store information.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simplify </a:t>
            </a:r>
            <a:r>
              <a:rPr lang="en-IN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customer, supplier, employee, and product management</a:t>
            </a: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enable easy </a:t>
            </a:r>
            <a:r>
              <a:rPr lang="en-IN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tracking of orders, sales, and transactions</a:t>
            </a: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provide </a:t>
            </a:r>
            <a:r>
              <a:rPr lang="en-IN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accurate inventory management</a:t>
            </a: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avoid </a:t>
            </a:r>
            <a:r>
              <a:rPr lang="en-IN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stock-out/overstock issues</a:t>
            </a: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improve </a:t>
            </a:r>
            <a:r>
              <a:rPr lang="en-IN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accuracy, reliability, and security</a:t>
            </a: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compared to manual record-keeping.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generate </a:t>
            </a:r>
            <a:r>
              <a:rPr lang="en-IN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reports and insights</a:t>
            </a: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better business decision-making.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save time, reduce manual errors, and ensure </a:t>
            </a:r>
            <a:r>
              <a:rPr lang="en-IN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 store operations</a:t>
            </a:r>
            <a:r>
              <a:rPr lang="en-I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440550" y="315450"/>
            <a:ext cx="11310900" cy="58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INTRODUCTION : </a:t>
            </a:r>
            <a:endParaRPr sz="24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Grocery Store Management System (GSM)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database-driven application designed to handle the daily operations of a grocery business.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allows easy management of </a:t>
            </a: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customers, suppliers, employees, products, categories, and orders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the backbone, the system ensures all information is stored in a </a:t>
            </a: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structured and secure way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GSM helps in tracking </a:t>
            </a: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levels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managing </a:t>
            </a: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supplier details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monitoring </a:t>
            </a: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purchases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managers can quickly generate reports like </a:t>
            </a: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 history, most purchased products, and supplier performance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Overall, GSM improves </a:t>
            </a:r>
            <a:r>
              <a:rPr lang="en-I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decision-making, customer satisfaction, and operational efficiency</a:t>
            </a:r>
            <a:r>
              <a:rPr lang="en-IN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title="er dig.png"/>
          <p:cNvPicPr preferRelativeResize="0"/>
          <p:nvPr/>
        </p:nvPicPr>
        <p:blipFill rotWithShape="1">
          <a:blip r:embed="rId3">
            <a:alphaModFix/>
          </a:blip>
          <a:srcRect l="14030"/>
          <a:stretch/>
        </p:blipFill>
        <p:spPr>
          <a:xfrm>
            <a:off x="260675" y="743450"/>
            <a:ext cx="11723874" cy="611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717825" y="147125"/>
            <a:ext cx="56334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 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175" y="1269950"/>
            <a:ext cx="7469351" cy="20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595375" y="591050"/>
            <a:ext cx="48987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Supplier: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4025" y="4086625"/>
            <a:ext cx="5096575" cy="20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6444025" y="3354150"/>
            <a:ext cx="42249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IN" sz="29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Category :</a:t>
            </a:r>
            <a:endParaRPr sz="29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/>
        </p:nvSpPr>
        <p:spPr>
          <a:xfrm>
            <a:off x="336075" y="321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Store_employees: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075" y="1065600"/>
            <a:ext cx="4713925" cy="30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 rotWithShape="1">
          <a:blip r:embed="rId4">
            <a:alphaModFix/>
          </a:blip>
          <a:srcRect b="9517"/>
          <a:stretch/>
        </p:blipFill>
        <p:spPr>
          <a:xfrm>
            <a:off x="6274625" y="1448325"/>
            <a:ext cx="5648700" cy="48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/>
        </p:nvSpPr>
        <p:spPr>
          <a:xfrm>
            <a:off x="6274625" y="6276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Customers:</a:t>
            </a:r>
            <a:endParaRPr sz="28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386800" y="3827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800" y="1171950"/>
            <a:ext cx="5648700" cy="54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6398775" y="3827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Orders: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8950" y="1233950"/>
            <a:ext cx="4587900" cy="499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/>
        </p:nvSpPr>
        <p:spPr>
          <a:xfrm>
            <a:off x="1503350" y="284900"/>
            <a:ext cx="39801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Orderdetails:</a:t>
            </a:r>
            <a:endParaRPr sz="28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2"/>
          <p:cNvPicPr preferRelativeResize="0"/>
          <p:nvPr/>
        </p:nvPicPr>
        <p:blipFill rotWithShape="1">
          <a:blip r:embed="rId3">
            <a:alphaModFix/>
          </a:blip>
          <a:srcRect l="-820" r="820" b="5186"/>
          <a:stretch/>
        </p:blipFill>
        <p:spPr>
          <a:xfrm>
            <a:off x="1503350" y="820675"/>
            <a:ext cx="9302475" cy="54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/>
        </p:nvSpPr>
        <p:spPr>
          <a:xfrm>
            <a:off x="809675" y="133475"/>
            <a:ext cx="10792200" cy="6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CUSTOMER INSIGHTS</a:t>
            </a:r>
            <a:endParaRPr sz="3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How many unique customers have placed orders?</a:t>
            </a:r>
            <a:endParaRPr sz="21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COUNT(DISTINCT cust_ID) AS UniqueCustomers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IN" sz="21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Which customers have placed the highest number of orders?</a:t>
            </a:r>
            <a:endParaRPr sz="21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Cust_ID, COUNT(Ord_ID) AS OrderCount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Cust_ID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OrderCount DESC;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 rotWithShape="1">
          <a:blip r:embed="rId3">
            <a:alphaModFix/>
          </a:blip>
          <a:srcRect r="10465"/>
          <a:stretch/>
        </p:blipFill>
        <p:spPr>
          <a:xfrm>
            <a:off x="7284975" y="1540150"/>
            <a:ext cx="3536150" cy="1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9175" y="3882300"/>
            <a:ext cx="3855275" cy="195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/>
        </p:nvSpPr>
        <p:spPr>
          <a:xfrm>
            <a:off x="212625" y="422675"/>
            <a:ext cx="11190300" cy="58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-- 4.Who are the top 5 customers by total purchase amount?</a:t>
            </a:r>
            <a:endParaRPr sz="22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o.customerID,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SUM(od.PriceEach * od.Quantity) AS TotalPurchase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 o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OrderDetails od ON o.OrderID = od.OrderID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o.customerID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TotalPurchase DESC                                     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 5;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8750" y="3331200"/>
            <a:ext cx="5093900" cy="22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/>
        </p:nvSpPr>
        <p:spPr>
          <a:xfrm>
            <a:off x="411675" y="300200"/>
            <a:ext cx="11373900" cy="5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30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Product Performance:</a:t>
            </a:r>
            <a:endParaRPr sz="30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-- 1. How many products exist in each category?</a:t>
            </a:r>
            <a:endParaRPr sz="21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CategoryID, COUNT(ProductID) AS ProductCount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Products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CategoryID;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-- 2. What is the average price of products by category?</a:t>
            </a:r>
            <a:endParaRPr sz="21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CategoryID, AVG(Price) AS AvgPrice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Products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CategoryID;									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</a:t>
            </a: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25"/>
          <p:cNvPicPr preferRelativeResize="0"/>
          <p:nvPr/>
        </p:nvPicPr>
        <p:blipFill rotWithShape="1">
          <a:blip r:embed="rId3">
            <a:alphaModFix/>
          </a:blip>
          <a:srcRect l="-5764"/>
          <a:stretch/>
        </p:blipFill>
        <p:spPr>
          <a:xfrm>
            <a:off x="8050375" y="1234000"/>
            <a:ext cx="3643325" cy="184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0556" y="3704200"/>
            <a:ext cx="4111425" cy="2333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/>
        </p:nvSpPr>
        <p:spPr>
          <a:xfrm>
            <a:off x="289200" y="346125"/>
            <a:ext cx="11450400" cy="58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-- 3. Which products have the highest total sales volume (by quantity)?</a:t>
            </a:r>
            <a:endParaRPr sz="23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ProductID, SUM(Quantity) AS TotalQuantity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OrderDetails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 ProductID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TotalQuantity DESC;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-- 4. What is the total revenue generated by each product?</a:t>
            </a:r>
            <a:endParaRPr sz="23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ProductID, SUM(PriceEach * Quantity) AS Revenue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OrderDetails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 ProductID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Revenue DESC;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0625" y="1249300"/>
            <a:ext cx="3645725" cy="19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5400" y="3729200"/>
            <a:ext cx="36457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/>
        </p:nvSpPr>
        <p:spPr>
          <a:xfrm>
            <a:off x="258575" y="330825"/>
            <a:ext cx="11542200" cy="57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SALES AND ORDER TRENDS: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-- 1. How many orders have been placed in total?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COUNT(OrderID) AS TotalOrders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-- 2. What is the average value per order?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AVG(OrderID) AS Avg_Value_per_Order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(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SELECT o.OrderID, SUM(od.PriceEach * od.Quantity) AS OrderTotal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FROM Orders o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JOIN OrderDetails od ON o.OrderID = od.OrderID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GROUP BY o.OrderID                                                              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27"/>
          <p:cNvPicPr preferRelativeResize="0"/>
          <p:nvPr/>
        </p:nvPicPr>
        <p:blipFill rotWithShape="1">
          <a:blip r:embed="rId3">
            <a:alphaModFix/>
          </a:blip>
          <a:srcRect b="21389"/>
          <a:stretch/>
        </p:blipFill>
        <p:spPr>
          <a:xfrm>
            <a:off x="5769475" y="1777425"/>
            <a:ext cx="2969750" cy="11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7"/>
          <p:cNvPicPr preferRelativeResize="0"/>
          <p:nvPr/>
        </p:nvPicPr>
        <p:blipFill rotWithShape="1">
          <a:blip r:embed="rId4">
            <a:alphaModFix/>
          </a:blip>
          <a:srcRect b="22354"/>
          <a:stretch/>
        </p:blipFill>
        <p:spPr>
          <a:xfrm>
            <a:off x="6519575" y="4386950"/>
            <a:ext cx="2852025" cy="1200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/>
        </p:nvSpPr>
        <p:spPr>
          <a:xfrm>
            <a:off x="243275" y="223675"/>
            <a:ext cx="11542200" cy="59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-- 3. On which dates were the most orders placed?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OrderDate, COUNT(OrderID) AS OrderCount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OrderDate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OrderCount DESC;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-- 4. What are the monthly trends in order volume and revenue?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YEAR(OrderDate) AS Year, MONTH(OrderDate) AS Month,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COUNT(o.OrderID) AS OrderCount,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SUM(od.PriceEach * od.Quantity) AS Revenue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 o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OrderDetails od ON o.OrderID = od.OrderID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YEAR(OrderDate), MONTH(OrderDate)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Year, Month;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500" y="610625"/>
            <a:ext cx="4045775" cy="21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8"/>
          <p:cNvPicPr preferRelativeResize="0"/>
          <p:nvPr/>
        </p:nvPicPr>
        <p:blipFill rotWithShape="1">
          <a:blip r:embed="rId4">
            <a:alphaModFix/>
          </a:blip>
          <a:srcRect b="36411"/>
          <a:stretch/>
        </p:blipFill>
        <p:spPr>
          <a:xfrm>
            <a:off x="6952763" y="3897600"/>
            <a:ext cx="3905250" cy="8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/>
        </p:nvSpPr>
        <p:spPr>
          <a:xfrm>
            <a:off x="350425" y="208350"/>
            <a:ext cx="11435100" cy="59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SUPPLIER CONTRIBUTION: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-- 1. How many suppliers are there in the database?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COUNT(DISTINCT SupplierID) AS SupplierCount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Suppliers;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-- 2. Which supplier provides the most products?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SupplierID, COUNT(ProductID) AS ProductCount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Products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SupplierID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ProductCount DESC;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1750" y="1815150"/>
            <a:ext cx="3259650" cy="12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6250" y="4050700"/>
            <a:ext cx="3016625" cy="17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289200" y="361450"/>
            <a:ext cx="11404500" cy="57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-- 3.What is the average price of products from each supplier?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SupplierID, AVG(Price) AS AvgPrice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Products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SupplierID;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-- 4. Which suppliers contribute the most to total product sales (by revenue)?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p.SupplierID, SUM(od.PriceEach * od.Quantity) AS Revenue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OrderDetails od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Products p ON od.ProductID = p.ProductID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p.SupplierID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Revenue DESC;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0175" y="881900"/>
            <a:ext cx="3673950" cy="17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6525" y="3716125"/>
            <a:ext cx="3231350" cy="20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/>
        </p:nvSpPr>
        <p:spPr>
          <a:xfrm>
            <a:off x="426975" y="254275"/>
            <a:ext cx="11297400" cy="5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EMPLOYEE PERFORMANCE: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-- 1. How many employees have processed orders?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COUNT(DISTINCT EmployeeID) AS EmployeeCount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-- 2.Which employees have handled the most orders?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EmployeeID, COUNT(OrderID) AS OrderCount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EmployeeID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OrderCount DESC;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24963"/>
          <a:stretch/>
        </p:blipFill>
        <p:spPr>
          <a:xfrm>
            <a:off x="6000075" y="1661850"/>
            <a:ext cx="3412725" cy="11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4300" y="4087275"/>
            <a:ext cx="3628025" cy="1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/>
        </p:nvSpPr>
        <p:spPr>
          <a:xfrm>
            <a:off x="197350" y="330825"/>
            <a:ext cx="11726100" cy="59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-- 3. What is the total sales value processed by each employee?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o.EmployeeID, SUM(od.PriceEach * od.Quantity) AS TotalSales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Orders o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OrderDetails od ON o.OrderID = od.OrderID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o.EmployeeID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TotalSales DESC;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N" sz="23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-- 4. What is the average order value handled per employee?</a:t>
            </a:r>
            <a:endParaRPr sz="23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employeeID, AVG(OrderValue) AS AvgOrderValue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(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SELECT o.OrderID, o.employeeID, SUM(od.PriceEach * od.Quantity) AS OrderValue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FROM Orders o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JOIN OrderDetails od ON o.OrderID = od.OrderID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GROUP BY o.OrderID, o.employeeID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employeeID;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3975" y="1113750"/>
            <a:ext cx="3530375" cy="16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5125" y="4081300"/>
            <a:ext cx="3679750" cy="16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/>
        </p:nvSpPr>
        <p:spPr>
          <a:xfrm>
            <a:off x="411675" y="223675"/>
            <a:ext cx="11282100" cy="59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6. ORDER DETAILS DEEP DIVE: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-- 1. What is the relationship between quantity ordered and total price?</a:t>
            </a:r>
            <a:endParaRPr sz="24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od.Quantity,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SUM(od.Quantity * od.PriceEach) AS total_price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orderdetails od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                              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od.Quantity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od.Quantity;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400" y="2917900"/>
            <a:ext cx="4289700" cy="23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/>
        </p:nvSpPr>
        <p:spPr>
          <a:xfrm>
            <a:off x="481200" y="392050"/>
            <a:ext cx="11710800" cy="59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-- 2. What is the average quantity ordered per product?</a:t>
            </a:r>
            <a:endParaRPr sz="24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productid,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AVG(quantity) AS Average_quantity_ordered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orderdetails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productid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Average_quantity_ordered DESC;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0" name="Google Shape;26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725" y="1999400"/>
            <a:ext cx="5027550" cy="215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/>
        </p:nvSpPr>
        <p:spPr>
          <a:xfrm>
            <a:off x="90200" y="300200"/>
            <a:ext cx="11894400" cy="59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-- 3.How does the unit price vary across products and orders?</a:t>
            </a:r>
            <a:endParaRPr sz="24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p.name,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od.orderid,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od.PriceEach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orderdetails od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products p ON od.productid = p.productid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p.name,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od.orderid;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5025" y="1290625"/>
            <a:ext cx="5082275" cy="36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/>
        </p:nvSpPr>
        <p:spPr>
          <a:xfrm>
            <a:off x="350425" y="392050"/>
            <a:ext cx="11358600" cy="57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</a:t>
            </a:r>
            <a:endParaRPr sz="3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➢"/>
            </a:pPr>
            <a:r>
              <a:rPr lang="en-IN" sz="2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Insights</a:t>
            </a: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➢"/>
            </a:pPr>
            <a:r>
              <a:rPr lang="en-IN" sz="2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Performance</a:t>
            </a: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➢"/>
            </a:pPr>
            <a:r>
              <a:rPr lang="en-IN" sz="2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&amp; Revenue Trends</a:t>
            </a: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➢"/>
            </a:pPr>
            <a:r>
              <a:rPr lang="en-IN" sz="2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Performance</a:t>
            </a: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➢"/>
            </a:pPr>
            <a:r>
              <a:rPr lang="en-IN" sz="2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Suppliers Contribution</a:t>
            </a: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➢"/>
            </a:pPr>
            <a:r>
              <a:rPr lang="en-IN" sz="2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Details</a:t>
            </a: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/>
        </p:nvSpPr>
        <p:spPr>
          <a:xfrm>
            <a:off x="289200" y="284900"/>
            <a:ext cx="11297400" cy="58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 sz="28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Customer Loyalty:</a:t>
            </a:r>
            <a:endParaRPr sz="19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IN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loyalty programs for top customers. Offer personalized discounts based on buying history.</a:t>
            </a:r>
            <a:endParaRPr sz="19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 Product Sales:</a:t>
            </a:r>
            <a:endParaRPr sz="19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IN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stock and promotion for best-selling items. Introduce bundle offers for slow-moving products.</a:t>
            </a:r>
            <a:endParaRPr sz="19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Inventory:</a:t>
            </a:r>
            <a:endParaRPr sz="19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IN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safety stock for high-demand products. Reduce overstock of low-performing items.</a:t>
            </a:r>
            <a:endParaRPr sz="19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Supplier Relationships:</a:t>
            </a:r>
            <a:endParaRPr sz="19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IN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Prioritize reliable suppliers with consistent delivery. Negotiate better terms with high-performing suppliers.</a:t>
            </a:r>
            <a:endParaRPr sz="19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 Decision Making:</a:t>
            </a:r>
            <a:endParaRPr sz="19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IN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using SQL reports for weekly/monthly insights. Integrate sales trends into marketing and stocking strategies.</a:t>
            </a:r>
            <a:endParaRPr sz="19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AC4118-72F7-0A96-39FB-23C584C9AAA5}"/>
              </a:ext>
            </a:extLst>
          </p:cNvPr>
          <p:cNvSpPr txBox="1"/>
          <p:nvPr/>
        </p:nvSpPr>
        <p:spPr>
          <a:xfrm>
            <a:off x="841248" y="1146048"/>
            <a:ext cx="877824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Key Insights of project  :</a:t>
            </a:r>
          </a:p>
          <a:p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customers drive most of the revenue.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Best-selling products dominate sales; some items need better promotion.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peak on specific dates/months, guiding stock planning.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suppliers provide most products and revenue.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employees handle majority of orders and sales.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quantities directly boost total order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423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/>
        </p:nvSpPr>
        <p:spPr>
          <a:xfrm>
            <a:off x="509950" y="281350"/>
            <a:ext cx="11148600" cy="58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 sz="2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Grocery Store Management System organizes and analyzes store data using SQL, enabling quick and accurate reporting.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It provides actionable insights to boost sales, manage inventory efficiently, and improve overall business decisions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9"/>
          <p:cNvSpPr txBox="1"/>
          <p:nvPr/>
        </p:nvSpPr>
        <p:spPr>
          <a:xfrm>
            <a:off x="1229300" y="2017500"/>
            <a:ext cx="36618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65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           YOU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Microsoft Office PowerPoint</Application>
  <PresentationFormat>Widescreen</PresentationFormat>
  <Paragraphs>269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Times New Roman</vt:lpstr>
      <vt:lpstr>Calibri</vt:lpstr>
      <vt:lpstr>Libre Baskerville</vt:lpstr>
      <vt:lpstr>Arial</vt:lpstr>
      <vt:lpstr>Office Theme</vt:lpstr>
      <vt:lpstr>PowerPoint Presentation</vt:lpstr>
      <vt:lpstr>PowerPoint Presentation</vt:lpstr>
      <vt:lpstr>Agenda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kasam janu</cp:lastModifiedBy>
  <cp:revision>1</cp:revision>
  <dcterms:modified xsi:type="dcterms:W3CDTF">2025-11-20T09:55:13Z</dcterms:modified>
</cp:coreProperties>
</file>